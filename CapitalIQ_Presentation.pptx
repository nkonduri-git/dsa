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2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03027"/>
          </a:solidFill>
          <a:ln w="12700">
            <a:solidFill>
              <a:srgbClr val="D03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D03027"/>
          </a:solidFill>
          <a:ln w="12700">
            <a:solidFill>
              <a:srgbClr val="D030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34440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Capital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90288" y="123444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D03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IQ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Financial Intelligence Platform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852928"/>
            <a:ext cx="8046720" cy="0"/>
          </a:xfrm>
          <a:prstGeom prst="line">
            <a:avLst/>
          </a:prstGeom>
          <a:noFill/>
          <a:ln w="6350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9992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Multi-Agent AI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  |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Capital One Nessie API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  |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Claude Sonnet 4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  |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React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06908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</a:rPr>
              <a:t>From spending intelligence to CRA compliance — one platform, two roles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03027"/>
          </a:solidFill>
          <a:ln w="12700">
            <a:solidFill>
              <a:srgbClr val="D03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FA6"/>
                </a:solidFill>
              </a:rPr>
              <a:t>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2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CapitalIQ?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896112"/>
            <a:ext cx="3931920" cy="3840480"/>
          </a:xfrm>
          <a:prstGeom prst="rect">
            <a:avLst/>
          </a:prstGeom>
          <a:solidFill>
            <a:srgbClr val="F4F7FB"/>
          </a:solidFill>
          <a:ln w="6350">
            <a:solidFill>
              <a:srgbClr val="E0E6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96112"/>
            <a:ext cx="3931920" cy="73152"/>
          </a:xfrm>
          <a:prstGeom prst="rect">
            <a:avLst/>
          </a:prstGeom>
          <a:solidFill>
            <a:srgbClr val="004977"/>
          </a:solidFill>
          <a:ln w="12700">
            <a:solidFill>
              <a:srgbClr val="0049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05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4977"/>
                </a:solidFill>
              </a:rPr>
              <a:t>CUSTOMER PORTAL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</a:rPr>
              <a:t>Retail Bank Customer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64592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Spending dashboard — charts, heatmap, KPI cards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98424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Transaction management and re-categorisation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322576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AI Advisors: card, insurance, account optimizer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66090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Goal Tracker with projection charts and AI coaching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99923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Life Stage Detection from purchase patterns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33756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Conversational AI Bank Teller with voice input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896112"/>
            <a:ext cx="3931920" cy="3840480"/>
          </a:xfrm>
          <a:prstGeom prst="rect">
            <a:avLst/>
          </a:prstGeom>
          <a:solidFill>
            <a:srgbClr val="0D0202"/>
          </a:solidFill>
          <a:ln w="6350">
            <a:solidFill>
              <a:srgbClr val="3A0A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896112"/>
            <a:ext cx="3931920" cy="73152"/>
          </a:xfrm>
          <a:prstGeom prst="rect">
            <a:avLst/>
          </a:prstGeom>
          <a:solidFill>
            <a:srgbClr val="D03027"/>
          </a:solidFill>
          <a:ln w="12700">
            <a:solidFill>
              <a:srgbClr val="D030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1005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03027"/>
                </a:solidFill>
              </a:rPr>
              <a:t>CRA COMMAND CENTER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8348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Bank Employee (Internal)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83480" y="164592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</a:rPr>
              <a:t>6 specialised CRA AI agents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83480" y="198424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</a:rPr>
              <a:t>ZIP code health desert scoring and analysis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83480" y="2322576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</a:rPr>
              <a:t>Customer spend agent + one-click Excel export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83480" y="266090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</a:rPr>
              <a:t>Card portfolio analytics — trends and drop-off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83480" y="299923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</a:rPr>
              <a:t>Multi-agent Orchestrator pipeline — ~$0.024/run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333756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</a:rPr>
              <a:t>Role-based access by Employee ID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03027"/>
          </a:solidFill>
          <a:ln w="12700">
            <a:solidFill>
              <a:srgbClr val="D03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FA6"/>
                </a:solidFill>
              </a:rPr>
              <a:t>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2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932688"/>
            <a:ext cx="393192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32688"/>
            <a:ext cx="54864" cy="896112"/>
          </a:xfrm>
          <a:prstGeom prst="rect">
            <a:avLst/>
          </a:prstGeom>
          <a:solidFill>
            <a:srgbClr val="004977"/>
          </a:solidFill>
          <a:ln w="12700">
            <a:solidFill>
              <a:srgbClr val="0049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966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</a:rPr>
              <a:t>React 18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26187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4977"/>
                </a:solidFill>
              </a:rPr>
              <a:t>UI Framework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463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FA6"/>
                </a:solidFill>
              </a:rPr>
              <a:t>Component model + hooks; entire app ships as one .jsx file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46320" y="932688"/>
            <a:ext cx="393192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932688"/>
            <a:ext cx="54864" cy="896112"/>
          </a:xfrm>
          <a:prstGeom prst="rect">
            <a:avLst/>
          </a:prstGeom>
          <a:solidFill>
            <a:srgbClr val="004977"/>
          </a:solidFill>
          <a:ln w="12700">
            <a:solidFill>
              <a:srgbClr val="0049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9966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</a:rPr>
              <a:t>Recharts 2.12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126187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4977"/>
                </a:solidFill>
              </a:rPr>
              <a:t>Data Visualisation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0" y="1463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FA6"/>
                </a:solidFill>
              </a:rPr>
              <a:t>Declarative charts composing naturally inside React; responsive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1938528"/>
            <a:ext cx="393192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1938528"/>
            <a:ext cx="54864" cy="896112"/>
          </a:xfrm>
          <a:prstGeom prst="rect">
            <a:avLst/>
          </a:prstGeom>
          <a:solidFill>
            <a:srgbClr val="D03027"/>
          </a:solidFill>
          <a:ln w="12700">
            <a:solidFill>
              <a:srgbClr val="D030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0025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</a:rPr>
              <a:t>Claude Sonnet 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226771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03027"/>
                </a:solidFill>
              </a:rPr>
              <a:t>AI Inference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2468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FA6"/>
                </a:solidFill>
              </a:rPr>
              <a:t>Best financial reasoning; 3-tier token control reduces cost 60%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46320" y="1938528"/>
            <a:ext cx="393192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1938528"/>
            <a:ext cx="54864" cy="896112"/>
          </a:xfrm>
          <a:prstGeom prst="rect">
            <a:avLst/>
          </a:prstGeom>
          <a:solidFill>
            <a:srgbClr val="D03027"/>
          </a:solidFill>
          <a:ln w="12700">
            <a:solidFill>
              <a:srgbClr val="D030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20025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</a:rPr>
              <a:t>Nessie API v2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0" y="226771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03027"/>
                </a:solidFill>
              </a:rPr>
              <a:t>Banking Data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29200" y="2468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FA6"/>
                </a:solidFill>
              </a:rPr>
              <a:t>Real Capital One sandbox: customers, accounts, purchases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2944368"/>
            <a:ext cx="393192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2944368"/>
            <a:ext cx="54864" cy="89611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0083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</a:rPr>
              <a:t>Web Speech API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327355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7D32"/>
                </a:solidFill>
              </a:rPr>
              <a:t>Voice Input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" y="3474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FA6"/>
                </a:solidFill>
              </a:rPr>
              <a:t>Browser-native speech for AI Teller; zero extra dependency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46320" y="2944368"/>
            <a:ext cx="393192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2944368"/>
            <a:ext cx="54864" cy="89611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30083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</a:rPr>
              <a:t>Blob + URL API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029200" y="327355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7D32"/>
                </a:solidFill>
              </a:rPr>
              <a:t>File Export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29200" y="3474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FA6"/>
                </a:solidFill>
              </a:rPr>
              <a:t>CSV and Excel download entirely client-side, no server needed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3950208"/>
            <a:ext cx="393192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65760" y="3950208"/>
            <a:ext cx="54864" cy="896112"/>
          </a:xfrm>
          <a:prstGeom prst="rect">
            <a:avLst/>
          </a:prstGeom>
          <a:solidFill>
            <a:srgbClr val="E8821A"/>
          </a:solidFill>
          <a:ln w="12700">
            <a:solidFill>
              <a:srgbClr val="E882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401421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</a:rPr>
              <a:t>pptxgenjs / docx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8640" y="42793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8821A"/>
                </a:solidFill>
              </a:rPr>
              <a:t>Doc Generation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8640" y="4480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FA6"/>
                </a:solidFill>
              </a:rPr>
              <a:t>Technical documents and this deck built from JavaScript code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846320" y="3950208"/>
            <a:ext cx="393192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46320" y="3950208"/>
            <a:ext cx="54864" cy="896112"/>
          </a:xfrm>
          <a:prstGeom prst="rect">
            <a:avLst/>
          </a:prstGeom>
          <a:solidFill>
            <a:srgbClr val="E8821A"/>
          </a:solidFill>
          <a:ln w="12700">
            <a:solidFill>
              <a:srgbClr val="E8821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0" y="401421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</a:rPr>
              <a:t>No Backend Server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029200" y="42793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8821A"/>
                </a:solidFill>
              </a:rPr>
              <a:t>Architecture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029200" y="4480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FA6"/>
                </a:solidFill>
              </a:rPr>
              <a:t>Browser calls Nessie + Anthropic directly; npm start is all you need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03027"/>
          </a:solidFill>
          <a:ln w="12700">
            <a:solidFill>
              <a:srgbClr val="D03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FA6"/>
                </a:solidFill>
              </a:rPr>
              <a:t>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2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Flow — Raw Transaction to AI Insight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078992" cy="1353312"/>
          </a:xfrm>
          <a:prstGeom prst="rect">
            <a:avLst/>
          </a:prstGeom>
          <a:solidFill>
            <a:srgbClr val="F4F7FB"/>
          </a:solidFill>
          <a:ln w="6350">
            <a:solidFill>
              <a:srgbClr val="E0E6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1078992" cy="347472"/>
          </a:xfrm>
          <a:prstGeom prst="rect">
            <a:avLst/>
          </a:prstGeom>
          <a:solidFill>
            <a:srgbClr val="004977"/>
          </a:solidFill>
          <a:ln w="12700">
            <a:solidFill>
              <a:srgbClr val="0049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4241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1408176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B3C"/>
                </a:solidFill>
              </a:rPr>
              <a:t>Source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682496"/>
            <a:ext cx="1078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FA6"/>
                </a:solidFill>
              </a:rPr>
              <a:t>Nessie API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A8FA6"/>
                </a:solidFill>
              </a:rPr>
              <a:t>or Synthetic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444752" y="1682496"/>
            <a:ext cx="91440" cy="0"/>
          </a:xfrm>
          <a:prstGeom prst="line">
            <a:avLst/>
          </a:prstGeom>
          <a:noFill/>
          <a:ln w="12700">
            <a:solidFill>
              <a:srgbClr val="7A8FA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36192" y="1005840"/>
            <a:ext cx="1078992" cy="1353312"/>
          </a:xfrm>
          <a:prstGeom prst="rect">
            <a:avLst/>
          </a:prstGeom>
          <a:solidFill>
            <a:srgbClr val="F4F7FB"/>
          </a:solidFill>
          <a:ln w="6350">
            <a:solidFill>
              <a:srgbClr val="E0E6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36192" y="1005840"/>
            <a:ext cx="1078992" cy="347472"/>
          </a:xfrm>
          <a:prstGeom prst="rect">
            <a:avLst/>
          </a:prstGeom>
          <a:solidFill>
            <a:srgbClr val="004977"/>
          </a:solidFill>
          <a:ln w="12700">
            <a:solidFill>
              <a:srgbClr val="0049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36192" y="104241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36192" y="1408176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B3C"/>
                </a:solidFill>
              </a:rPr>
              <a:t>Normalise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36192" y="1682496"/>
            <a:ext cx="1078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FA6"/>
                </a:solidFill>
              </a:rPr>
              <a:t>mapNessie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A8FA6"/>
                </a:solidFill>
              </a:rPr>
              <a:t>Purchases()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615184" y="1682496"/>
            <a:ext cx="91440" cy="0"/>
          </a:xfrm>
          <a:prstGeom prst="line">
            <a:avLst/>
          </a:prstGeom>
          <a:noFill/>
          <a:ln w="12700">
            <a:solidFill>
              <a:srgbClr val="7A8FA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06624" y="1005840"/>
            <a:ext cx="1078992" cy="1353312"/>
          </a:xfrm>
          <a:prstGeom prst="rect">
            <a:avLst/>
          </a:prstGeom>
          <a:solidFill>
            <a:srgbClr val="F4F7FB"/>
          </a:solidFill>
          <a:ln w="6350">
            <a:solidFill>
              <a:srgbClr val="E0E6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06624" y="1005840"/>
            <a:ext cx="1078992" cy="347472"/>
          </a:xfrm>
          <a:prstGeom prst="rect">
            <a:avLst/>
          </a:prstGeom>
          <a:solidFill>
            <a:srgbClr val="E8821A"/>
          </a:solidFill>
          <a:ln w="12700">
            <a:solidFill>
              <a:srgbClr val="E882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06624" y="104241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706624" y="1408176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B3C"/>
                </a:solidFill>
              </a:rPr>
              <a:t>Categorise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06624" y="1682496"/>
            <a:ext cx="1078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FA6"/>
                </a:solidFill>
              </a:rPr>
              <a:t>60-entry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A8FA6"/>
                </a:solidFill>
              </a:rPr>
              <a:t>keyword map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785616" y="1682496"/>
            <a:ext cx="91440" cy="0"/>
          </a:xfrm>
          <a:prstGeom prst="line">
            <a:avLst/>
          </a:prstGeom>
          <a:noFill/>
          <a:ln w="12700">
            <a:solidFill>
              <a:srgbClr val="7A8FA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77056" y="1005840"/>
            <a:ext cx="1078992" cy="1353312"/>
          </a:xfrm>
          <a:prstGeom prst="rect">
            <a:avLst/>
          </a:prstGeom>
          <a:solidFill>
            <a:srgbClr val="F4F7FB"/>
          </a:solidFill>
          <a:ln w="6350">
            <a:solidFill>
              <a:srgbClr val="E0E6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77056" y="1005840"/>
            <a:ext cx="1078992" cy="347472"/>
          </a:xfrm>
          <a:prstGeom prst="rect">
            <a:avLst/>
          </a:prstGeom>
          <a:solidFill>
            <a:srgbClr val="E8821A"/>
          </a:solidFill>
          <a:ln w="12700">
            <a:solidFill>
              <a:srgbClr val="E882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77056" y="104241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877056" y="1408176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B3C"/>
                </a:solidFill>
              </a:rPr>
              <a:t>Aggregate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877056" y="1682496"/>
            <a:ext cx="1078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FA6"/>
                </a:solidFill>
              </a:rPr>
              <a:t>byCategory()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A8FA6"/>
                </a:solidFill>
              </a:rPr>
              <a:t>byMonth()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956048" y="1682496"/>
            <a:ext cx="91440" cy="0"/>
          </a:xfrm>
          <a:prstGeom prst="line">
            <a:avLst/>
          </a:prstGeom>
          <a:noFill/>
          <a:ln w="12700">
            <a:solidFill>
              <a:srgbClr val="7A8FA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47488" y="1005840"/>
            <a:ext cx="1078992" cy="1353312"/>
          </a:xfrm>
          <a:prstGeom prst="rect">
            <a:avLst/>
          </a:prstGeom>
          <a:solidFill>
            <a:srgbClr val="F4F7FB"/>
          </a:solidFill>
          <a:ln w="6350">
            <a:solidFill>
              <a:srgbClr val="E0E6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47488" y="1005840"/>
            <a:ext cx="1078992" cy="347472"/>
          </a:xfrm>
          <a:prstGeom prst="rect">
            <a:avLst/>
          </a:prstGeom>
          <a:solidFill>
            <a:srgbClr val="D03027"/>
          </a:solidFill>
          <a:ln w="12700">
            <a:solidFill>
              <a:srgbClr val="D0302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47488" y="104241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047488" y="1408176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B3C"/>
                </a:solidFill>
              </a:rPr>
              <a:t>Life Stage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47488" y="1682496"/>
            <a:ext cx="1078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FA6"/>
                </a:solidFill>
              </a:rPr>
              <a:t>detectLife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A8FA6"/>
                </a:solidFill>
              </a:rPr>
              <a:t>Stage()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126480" y="1682496"/>
            <a:ext cx="91440" cy="0"/>
          </a:xfrm>
          <a:prstGeom prst="line">
            <a:avLst/>
          </a:prstGeom>
          <a:noFill/>
          <a:ln w="12700">
            <a:solidFill>
              <a:srgbClr val="7A8FA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17920" y="1005840"/>
            <a:ext cx="1078992" cy="1353312"/>
          </a:xfrm>
          <a:prstGeom prst="rect">
            <a:avLst/>
          </a:prstGeom>
          <a:solidFill>
            <a:srgbClr val="F4F7FB"/>
          </a:solidFill>
          <a:ln w="6350">
            <a:solidFill>
              <a:srgbClr val="E0E6E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17920" y="1005840"/>
            <a:ext cx="1078992" cy="347472"/>
          </a:xfrm>
          <a:prstGeom prst="rect">
            <a:avLst/>
          </a:prstGeom>
          <a:solidFill>
            <a:srgbClr val="D03027"/>
          </a:solidFill>
          <a:ln w="12700">
            <a:solidFill>
              <a:srgbClr val="D0302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0" y="104241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217920" y="1408176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B3C"/>
                </a:solidFill>
              </a:rPr>
              <a:t>AI Analysis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17920" y="1682496"/>
            <a:ext cx="1078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FA6"/>
                </a:solidFill>
              </a:rPr>
              <a:t>callClaude()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A8FA6"/>
                </a:solidFill>
              </a:rPr>
              <a:t>3 tiers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296912" y="1682496"/>
            <a:ext cx="91440" cy="0"/>
          </a:xfrm>
          <a:prstGeom prst="line">
            <a:avLst/>
          </a:prstGeom>
          <a:noFill/>
          <a:ln w="12700">
            <a:solidFill>
              <a:srgbClr val="7A8FA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88352" y="1005840"/>
            <a:ext cx="1078992" cy="1353312"/>
          </a:xfrm>
          <a:prstGeom prst="rect">
            <a:avLst/>
          </a:prstGeom>
          <a:solidFill>
            <a:srgbClr val="F4F7FB"/>
          </a:solidFill>
          <a:ln w="6350">
            <a:solidFill>
              <a:srgbClr val="E0E6E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388352" y="1005840"/>
            <a:ext cx="1078992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88352" y="104241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388352" y="1408176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B3C"/>
                </a:solidFill>
              </a:rPr>
              <a:t>Export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388352" y="1682496"/>
            <a:ext cx="1078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FA6"/>
                </a:solidFill>
              </a:rPr>
              <a:t>CSV/Excel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A8FA6"/>
                </a:solidFill>
              </a:rPr>
              <a:t>download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65760" y="256032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262"/>
                </a:solidFill>
              </a:rPr>
              <a:t>Transaction object: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65760" y="2816352"/>
            <a:ext cx="3931920" cy="694944"/>
          </a:xfrm>
          <a:prstGeom prst="rect">
            <a:avLst/>
          </a:prstGeom>
          <a:solidFill>
            <a:srgbClr val="0D1117"/>
          </a:solidFill>
          <a:ln w="6350">
            <a:solidFill>
              <a:srgbClr val="1E273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" y="2926080"/>
            <a:ext cx="365760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id, amount, category, merchant,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date, dayOfWeek, week, month,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description, isRepeat }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846320" y="256032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262"/>
                </a:solidFill>
              </a:rPr>
              <a:t>Weekend spend weighting: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846320" y="2816352"/>
            <a:ext cx="3931920" cy="694944"/>
          </a:xfrm>
          <a:prstGeom prst="rect">
            <a:avLst/>
          </a:prstGeom>
          <a:solidFill>
            <a:srgbClr val="0D1117"/>
          </a:solidFill>
          <a:ln w="6350">
            <a:solidFill>
              <a:srgbClr val="1E273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83480" y="2926080"/>
            <a:ext cx="365760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Sun  Mon  Tue  Wed  Thu  Fri  Sat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[1.4, 0.8, 0.9, 0.9, 1.0, 1.3, 1.5]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Sat/Sun spend 40-50% higher than midweek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365760" y="36301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FA6"/>
                </a:solidFill>
              </a:rPr>
              <a:t>Nessie merchants normalised: starbucks-&gt;Dining, delta-&gt;Travel, cvs-&gt;Healthcare, whole foods-&gt;Groceries (60-entry keyword map)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03027"/>
          </a:solidFill>
          <a:ln w="12700">
            <a:solidFill>
              <a:srgbClr val="D03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FA6"/>
                </a:solidFill>
              </a:rPr>
              <a:t>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2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Token-Optimised AI Caller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932688"/>
            <a:ext cx="4663440" cy="3566160"/>
          </a:xfrm>
          <a:prstGeom prst="rect">
            <a:avLst/>
          </a:prstGeom>
          <a:solidFill>
            <a:srgbClr val="0D1117"/>
          </a:solidFill>
          <a:ln w="6350">
            <a:solidFill>
              <a:srgbClr val="1E27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42416"/>
            <a:ext cx="4389120" cy="3364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TOKEN_TIERS =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terse:  300,  // quick facts  ~$0.0009/call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normal: 600,  // chat replies ~$0.0018/call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full:  1200,  // reports      ~$0.0036/call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callClaude(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system, user, history=[], tier='normal'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maxTokens   = TOKEN_TIERS[tier];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cappedHist  = history.slice(-6);    // cap 6 turns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cappedSys   = system.slice(0,3000); // cap system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cappedUser  = user.slice(0,2000);   // cap prompt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POST api.anthropic.com/v1/messages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303520" y="932688"/>
            <a:ext cx="34747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303520" y="932688"/>
            <a:ext cx="54864" cy="11155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0" y="9875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TERSE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0" y="128016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</a:rPr>
              <a:t>300 tokens   ~$0.0009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0" y="152704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</a:rPr>
              <a:t>Orchestrator steps, quick insights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03520" y="2167128"/>
            <a:ext cx="34747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03520" y="2167128"/>
            <a:ext cx="54864" cy="1115568"/>
          </a:xfrm>
          <a:prstGeom prst="rect">
            <a:avLst/>
          </a:prstGeom>
          <a:solidFill>
            <a:srgbClr val="004977"/>
          </a:solidFill>
          <a:ln w="12700">
            <a:solidFill>
              <a:srgbClr val="0049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22219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49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0" y="251460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</a:rPr>
              <a:t>600 tokens   ~$0.0018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0" y="276148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</a:rPr>
              <a:t>Agent chat, Teller, Goals, CRA agents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03520" y="3401568"/>
            <a:ext cx="34747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03520" y="3401568"/>
            <a:ext cx="54864" cy="1115568"/>
          </a:xfrm>
          <a:prstGeom prst="rect">
            <a:avLst/>
          </a:prstGeom>
          <a:solidFill>
            <a:srgbClr val="D03027"/>
          </a:solidFill>
          <a:ln w="12700">
            <a:solidFill>
              <a:srgbClr val="D030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34564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03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0" y="37490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</a:rPr>
              <a:t>1,200 tokens   ~$0.0036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0" y="399592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</a:rPr>
              <a:t>Life Stage AI plan, detailed analysis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303520" y="4636008"/>
            <a:ext cx="3474720" cy="347472"/>
          </a:xfrm>
          <a:prstGeom prst="rect">
            <a:avLst/>
          </a:prstGeom>
          <a:solidFill>
            <a:srgbClr val="F4F7FB"/>
          </a:solidFill>
          <a:ln w="6350">
            <a:solidFill>
              <a:srgbClr val="E0E6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40680" y="46634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FA6"/>
                </a:solidFill>
              </a:rPr>
              <a:t>Controls: history capped 6 turns | system 3,000 chars | message 2,000 chars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03027"/>
          </a:solidFill>
          <a:ln w="12700">
            <a:solidFill>
              <a:srgbClr val="D03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FA6"/>
                </a:solidFill>
              </a:rPr>
              <a:t>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2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Customer-Facing AI Agents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932688"/>
            <a:ext cx="246888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32688"/>
            <a:ext cx="2468880" cy="54864"/>
          </a:xfrm>
          <a:prstGeom prst="rect">
            <a:avLst/>
          </a:prstGeom>
          <a:solidFill>
            <a:srgbClr val="D03027"/>
          </a:solidFill>
          <a:ln w="12700">
            <a:solidFill>
              <a:srgbClr val="D030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1060704"/>
            <a:ext cx="594360" cy="246888"/>
          </a:xfrm>
          <a:prstGeom prst="rect">
            <a:avLst/>
          </a:prstGeom>
          <a:solidFill>
            <a:srgbClr val="D03027"/>
          </a:solidFill>
          <a:ln w="12700">
            <a:solidFill>
              <a:srgbClr val="D030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088136"/>
            <a:ext cx="594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3000" y="106070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3C"/>
                </a:solidFill>
              </a:rPr>
              <a:t>Credit Card Agent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43000" y="1316736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4977"/>
                </a:solidFill>
              </a:rPr>
              <a:t>NORMAL TIER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75488" y="1572768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</a:rPr>
              <a:t>Matches 90-day spend breakdown to best Capital One card with reward rate justification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54680" y="932688"/>
            <a:ext cx="246888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932688"/>
            <a:ext cx="2468880" cy="54864"/>
          </a:xfrm>
          <a:prstGeom prst="rect">
            <a:avLst/>
          </a:prstGeom>
          <a:solidFill>
            <a:srgbClr val="004977"/>
          </a:solidFill>
          <a:ln w="12700">
            <a:solidFill>
              <a:srgbClr val="00497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1060704"/>
            <a:ext cx="594360" cy="246888"/>
          </a:xfrm>
          <a:prstGeom prst="rect">
            <a:avLst/>
          </a:prstGeom>
          <a:solidFill>
            <a:srgbClr val="004977"/>
          </a:solidFill>
          <a:ln w="12700">
            <a:solidFill>
              <a:srgbClr val="0049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64408" y="1088136"/>
            <a:ext cx="594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931920" y="106070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3C"/>
                </a:solidFill>
              </a:rPr>
              <a:t>Health Insurance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931920" y="1316736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4977"/>
                </a:solidFill>
              </a:rPr>
              <a:t>NORMAL TIER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264408" y="1572768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</a:rPr>
              <a:t>Analyses healthcare spend + age + income to recommend the right plan tier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43600" y="932688"/>
            <a:ext cx="246888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0" y="932688"/>
            <a:ext cx="246888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53328" y="1060704"/>
            <a:ext cx="594360" cy="24688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53328" y="1088136"/>
            <a:ext cx="594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720840" y="106070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3C"/>
                </a:solidFill>
              </a:rPr>
              <a:t>Account Optimizer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720840" y="1316736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4977"/>
                </a:solidFill>
              </a:rPr>
              <a:t>NORMAL TIER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053328" y="1572768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</a:rPr>
              <a:t>Recommends 360 Savings, Checking, Money Market, or CD based on surplus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2852928"/>
            <a:ext cx="246888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2852928"/>
            <a:ext cx="2468880" cy="54864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" y="2980944"/>
            <a:ext cx="594360" cy="24688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" y="3008376"/>
            <a:ext cx="594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LIFE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" y="298094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3C"/>
                </a:solidFill>
              </a:rPr>
              <a:t>Life Stage Advisor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143000" y="3236976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03027"/>
                </a:solidFill>
              </a:rPr>
              <a:t>FULL TIER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75488" y="3493008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</a:rPr>
              <a:t>Detects life stage from merchant patterns. Generates personalised 4-section financial plan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154680" y="2852928"/>
            <a:ext cx="246888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154680" y="2852928"/>
            <a:ext cx="2468880" cy="54864"/>
          </a:xfrm>
          <a:prstGeom prst="rect">
            <a:avLst/>
          </a:prstGeom>
          <a:solidFill>
            <a:srgbClr val="E8821A"/>
          </a:solidFill>
          <a:ln w="12700">
            <a:solidFill>
              <a:srgbClr val="E8821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64408" y="2980944"/>
            <a:ext cx="594360" cy="246888"/>
          </a:xfrm>
          <a:prstGeom prst="rect">
            <a:avLst/>
          </a:prstGeom>
          <a:solidFill>
            <a:srgbClr val="E8821A"/>
          </a:solidFill>
          <a:ln w="12700">
            <a:solidFill>
              <a:srgbClr val="E882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64408" y="3008376"/>
            <a:ext cx="594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PRCH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931920" y="298094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3C"/>
                </a:solidFill>
              </a:rPr>
              <a:t>Purchase Advisor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931920" y="3236976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E7D32"/>
                </a:solidFill>
              </a:rPr>
              <a:t>TERSE TIER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264408" y="3493008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</a:rPr>
              <a:t>Evaluates any planned purchase against life stage. Names the right card to use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943600" y="2852928"/>
            <a:ext cx="246888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943600" y="2852928"/>
            <a:ext cx="2468880" cy="54864"/>
          </a:xfrm>
          <a:prstGeom prst="rect">
            <a:avLst/>
          </a:prstGeom>
          <a:solidFill>
            <a:srgbClr val="D03027"/>
          </a:solidFill>
          <a:ln w="12700">
            <a:solidFill>
              <a:srgbClr val="D0302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53328" y="2980944"/>
            <a:ext cx="594360" cy="246888"/>
          </a:xfrm>
          <a:prstGeom prst="rect">
            <a:avLst/>
          </a:prstGeom>
          <a:solidFill>
            <a:srgbClr val="D03027"/>
          </a:solidFill>
          <a:ln w="12700">
            <a:solidFill>
              <a:srgbClr val="D0302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53328" y="3008376"/>
            <a:ext cx="594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720840" y="298094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3C"/>
                </a:solidFill>
              </a:rPr>
              <a:t>AI Bank Teller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720840" y="3236976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4977"/>
                </a:solidFill>
              </a:rPr>
              <a:t>NORMAL TIER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053328" y="3493008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</a:rPr>
              <a:t>Conversational teller with full account data injected. Handles transfers, ATM, balances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03027"/>
          </a:solidFill>
          <a:ln w="12700">
            <a:solidFill>
              <a:srgbClr val="D03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FA6"/>
                </a:solidFill>
              </a:rPr>
              <a:t>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2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 Stage Detection Engine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480560" cy="3840480"/>
          </a:xfrm>
          <a:prstGeom prst="rect">
            <a:avLst/>
          </a:prstGeom>
          <a:solidFill>
            <a:srgbClr val="0D1117"/>
          </a:solidFill>
          <a:ln w="6350">
            <a:solidFill>
              <a:srgbClr val="1E27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24128"/>
            <a:ext cx="4206240" cy="3639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Rule-based — no AI call, zero cost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detectLifeStage(transactions)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allText = transactions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.map(t =&gt; t.merchant.toLowerCase())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.join(' ');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Object.entries(LIFE_STAGE_SIGNALS).forEach(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([stage, data]) =&gt;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data.keywords.forEach(kw =&gt;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(allText.includes(kw)) score += 3;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data.merchants.forEach(m =&gt;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(allText.includes(m))  score += 5;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sortedByScore.slice(0, 3);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166360" y="914400"/>
            <a:ext cx="3611880" cy="566928"/>
          </a:xfrm>
          <a:prstGeom prst="rect">
            <a:avLst/>
          </a:prstGeom>
          <a:solidFill>
            <a:srgbClr val="F4F7FB"/>
          </a:solidFill>
          <a:ln w="6350">
            <a:solidFill>
              <a:srgbClr val="E0E6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66360" y="914400"/>
            <a:ext cx="45720" cy="566928"/>
          </a:xfrm>
          <a:prstGeom prst="rect">
            <a:avLst/>
          </a:prstGeom>
          <a:solidFill>
            <a:srgbClr val="E8821A"/>
          </a:solidFill>
          <a:ln w="12700">
            <a:solidFill>
              <a:srgbClr val="E882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0" y="96012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3C"/>
                </a:solidFill>
              </a:rPr>
              <a:t>New Parent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0" y="118872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FA6"/>
                </a:solidFill>
              </a:rPr>
              <a:t>baby, diaper, stroller, Carter's, pediatric clinic — +5 pts each merchant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166360" y="1572768"/>
            <a:ext cx="3611880" cy="566928"/>
          </a:xfrm>
          <a:prstGeom prst="rect">
            <a:avLst/>
          </a:prstGeom>
          <a:solidFill>
            <a:srgbClr val="F4F7FB"/>
          </a:solidFill>
          <a:ln w="6350">
            <a:solidFill>
              <a:srgbClr val="E0E6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66360" y="1572768"/>
            <a:ext cx="45720" cy="5669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0" y="161848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3C"/>
                </a:solidFill>
              </a:rPr>
              <a:t>New Homeowner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0" y="184708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FA6"/>
                </a:solidFill>
              </a:rPr>
              <a:t>Home Depot, Lowe's, mortgage, HVAC, renovation — +5 pts each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166360" y="2231136"/>
            <a:ext cx="3611880" cy="566928"/>
          </a:xfrm>
          <a:prstGeom prst="rect">
            <a:avLst/>
          </a:prstGeom>
          <a:solidFill>
            <a:srgbClr val="F4F7FB"/>
          </a:solidFill>
          <a:ln w="6350">
            <a:solidFill>
              <a:srgbClr val="E0E6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66360" y="2231136"/>
            <a:ext cx="45720" cy="566928"/>
          </a:xfrm>
          <a:prstGeom prst="rect">
            <a:avLst/>
          </a:prstGeom>
          <a:solidFill>
            <a:srgbClr val="004977"/>
          </a:solidFill>
          <a:ln w="12700">
            <a:solidFill>
              <a:srgbClr val="0049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227685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3C"/>
                </a:solidFill>
              </a:rPr>
              <a:t>Young Professional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03520" y="250545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FA6"/>
                </a:solidFill>
              </a:rPr>
              <a:t>LinkedIn, WeWork, business travel, coworking — +3 pts each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166360" y="2889504"/>
            <a:ext cx="3611880" cy="566928"/>
          </a:xfrm>
          <a:prstGeom prst="rect">
            <a:avLst/>
          </a:prstGeom>
          <a:solidFill>
            <a:srgbClr val="F4F7FB"/>
          </a:solidFill>
          <a:ln w="6350">
            <a:solidFill>
              <a:srgbClr val="E0E6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66360" y="2889504"/>
            <a:ext cx="45720" cy="566928"/>
          </a:xfrm>
          <a:prstGeom prst="rect">
            <a:avLst/>
          </a:prstGeom>
          <a:solidFill>
            <a:srgbClr val="D03027"/>
          </a:solidFill>
          <a:ln w="12700">
            <a:solidFill>
              <a:srgbClr val="D030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0" y="293522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3C"/>
                </a:solidFill>
              </a:rPr>
              <a:t>Frequent Traveler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03520" y="316382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FA6"/>
                </a:solidFill>
              </a:rPr>
              <a:t>Delta, Marriott, lounge, Global Entry, Airbnb — +5 pts each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166360" y="3547872"/>
            <a:ext cx="3611880" cy="566928"/>
          </a:xfrm>
          <a:prstGeom prst="rect">
            <a:avLst/>
          </a:prstGeom>
          <a:solidFill>
            <a:srgbClr val="F4F7FB"/>
          </a:solidFill>
          <a:ln w="6350">
            <a:solidFill>
              <a:srgbClr val="E0E6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66360" y="3547872"/>
            <a:ext cx="45720" cy="56692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0" y="359359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3C"/>
                </a:solidFill>
              </a:rPr>
              <a:t>College Student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0" y="382219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FA6"/>
                </a:solidFill>
              </a:rPr>
              <a:t>textbooks, tuition, campus dining, Chegg, student loan — +3 pts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166360" y="4206240"/>
            <a:ext cx="3611880" cy="566928"/>
          </a:xfrm>
          <a:prstGeom prst="rect">
            <a:avLst/>
          </a:prstGeom>
          <a:solidFill>
            <a:srgbClr val="F4F7FB"/>
          </a:solidFill>
          <a:ln w="6350">
            <a:solidFill>
              <a:srgbClr val="E0E6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66360" y="4206240"/>
            <a:ext cx="45720" cy="566928"/>
          </a:xfrm>
          <a:prstGeom prst="rect">
            <a:avLst/>
          </a:prstGeom>
          <a:solidFill>
            <a:srgbClr val="7A8FA6"/>
          </a:solidFill>
          <a:ln w="12700">
            <a:solidFill>
              <a:srgbClr val="7A8F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0" y="425196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3C"/>
                </a:solidFill>
              </a:rPr>
              <a:t>Near Retirement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03520" y="448056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FA6"/>
                </a:solidFill>
              </a:rPr>
              <a:t>Medicare, AARP, cruise lines, golf, snowbird — +5 pts each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03027"/>
          </a:solidFill>
          <a:ln w="12700">
            <a:solidFill>
              <a:srgbClr val="D03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CRA Command Center — 6 Specialised Admin Agents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Internal tool for Capital One employees — role-restricted, dark theme, live ZIP zone analysis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FA6"/>
                </a:solidFill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2514600" cy="1572768"/>
          </a:xfrm>
          <a:prstGeom prst="rect">
            <a:avLst/>
          </a:prstGeom>
          <a:solidFill>
            <a:srgbClr val="1A0505"/>
          </a:solidFill>
          <a:ln w="6350">
            <a:solidFill>
              <a:srgbClr val="3A0A0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78992"/>
            <a:ext cx="251460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207008"/>
            <a:ext cx="594360" cy="24688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234440"/>
            <a:ext cx="594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7280" y="120700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Health Equity Map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9768" y="1554480"/>
            <a:ext cx="22860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AAB8"/>
                </a:solidFill>
              </a:rPr>
              <a:t>Scores health spending deserts 0-100. Diagnoses root causes. Produces OCC-ready narratives with national benchmark comparisons.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154680" y="1078992"/>
            <a:ext cx="2514600" cy="1572768"/>
          </a:xfrm>
          <a:prstGeom prst="rect">
            <a:avLst/>
          </a:prstGeom>
          <a:solidFill>
            <a:srgbClr val="1A0505"/>
          </a:solidFill>
          <a:ln w="6350">
            <a:solidFill>
              <a:srgbClr val="3A0A0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54680" y="1078992"/>
            <a:ext cx="2514600" cy="54864"/>
          </a:xfrm>
          <a:prstGeom prst="rect">
            <a:avLst/>
          </a:prstGeom>
          <a:solidFill>
            <a:srgbClr val="D03027"/>
          </a:solidFill>
          <a:ln w="12700">
            <a:solidFill>
              <a:srgbClr val="D030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1207008"/>
            <a:ext cx="594360" cy="246888"/>
          </a:xfrm>
          <a:prstGeom prst="rect">
            <a:avLst/>
          </a:prstGeom>
          <a:solidFill>
            <a:srgbClr val="D03027"/>
          </a:solidFill>
          <a:ln w="12700">
            <a:solidFill>
              <a:srgbClr val="D030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64408" y="1234440"/>
            <a:ext cx="594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931920" y="120700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Crisis Detection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64408" y="1554480"/>
            <a:ext cx="22860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AAB8"/>
                </a:solidFill>
              </a:rPr>
              <a:t>Monitors 6 MCC codes. Flags users 60 days from health-driven default. Risk tiers: Critical / High / Moderate / Low with interventions.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89320" y="1078992"/>
            <a:ext cx="2514600" cy="1572768"/>
          </a:xfrm>
          <a:prstGeom prst="rect">
            <a:avLst/>
          </a:prstGeom>
          <a:solidFill>
            <a:srgbClr val="1A0505"/>
          </a:solidFill>
          <a:ln w="6350">
            <a:solidFill>
              <a:srgbClr val="3A0A0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89320" y="1078992"/>
            <a:ext cx="2514600" cy="54864"/>
          </a:xfrm>
          <a:prstGeom prst="rect">
            <a:avLst/>
          </a:prstGeom>
          <a:solidFill>
            <a:srgbClr val="004977"/>
          </a:solidFill>
          <a:ln w="12700">
            <a:solidFill>
              <a:srgbClr val="00497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99048" y="1207008"/>
            <a:ext cx="594360" cy="246888"/>
          </a:xfrm>
          <a:prstGeom prst="rect">
            <a:avLst/>
          </a:prstGeom>
          <a:solidFill>
            <a:srgbClr val="004977"/>
          </a:solidFill>
          <a:ln w="12700">
            <a:solidFill>
              <a:srgbClr val="0049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99048" y="1234440"/>
            <a:ext cx="594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766560" y="120700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CRA Compliance Advisor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99048" y="1554480"/>
            <a:ext cx="22860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AAB8"/>
                </a:solidFill>
              </a:rPr>
              <a:t>15 years OCC exam experience baked into prompt. Investment deployment roadmap with dollar amounts and regulatory credit estimates.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" y="2862072"/>
            <a:ext cx="2514600" cy="1572768"/>
          </a:xfrm>
          <a:prstGeom prst="rect">
            <a:avLst/>
          </a:prstGeom>
          <a:solidFill>
            <a:srgbClr val="1A0505"/>
          </a:solidFill>
          <a:ln w="6350">
            <a:solidFill>
              <a:srgbClr val="3A0A0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2862072"/>
            <a:ext cx="2514600" cy="54864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9768" y="2990088"/>
            <a:ext cx="594360" cy="24688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" y="3017520"/>
            <a:ext cx="594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7280" y="299008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Product Trigger Engine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29768" y="3337560"/>
            <a:ext cx="22860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AAB8"/>
                </a:solidFill>
              </a:rPr>
              <a:t>Maps health MCC signals to right Capital One product. Sequenced outreach calendar with trigger condition, channel, and conversion rate.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154680" y="2862072"/>
            <a:ext cx="2514600" cy="1572768"/>
          </a:xfrm>
          <a:prstGeom prst="rect">
            <a:avLst/>
          </a:prstGeom>
          <a:solidFill>
            <a:srgbClr val="1A0505"/>
          </a:solidFill>
          <a:ln w="6350">
            <a:solidFill>
              <a:srgbClr val="3A0A0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54680" y="2862072"/>
            <a:ext cx="2514600" cy="54864"/>
          </a:xfrm>
          <a:prstGeom prst="rect">
            <a:avLst/>
          </a:prstGeom>
          <a:solidFill>
            <a:srgbClr val="E8821A"/>
          </a:solidFill>
          <a:ln w="12700">
            <a:solidFill>
              <a:srgbClr val="E8821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64408" y="2990088"/>
            <a:ext cx="594360" cy="246888"/>
          </a:xfrm>
          <a:prstGeom prst="rect">
            <a:avLst/>
          </a:prstGeom>
          <a:solidFill>
            <a:srgbClr val="E8821A"/>
          </a:solidFill>
          <a:ln w="12700">
            <a:solidFill>
              <a:srgbClr val="E882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64408" y="3017520"/>
            <a:ext cx="594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ROI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931920" y="299008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ROI Calculator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264408" y="3337560"/>
            <a:ext cx="22860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AAB8"/>
                </a:solidFill>
              </a:rPr>
              <a:t>12-month pro forma and 3-year NPV. Hard benchmarks: $3-8 CRA multiplier, $4.2M Cafe brand value, $840 per prevented default.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989320" y="2862072"/>
            <a:ext cx="2514600" cy="1572768"/>
          </a:xfrm>
          <a:prstGeom prst="rect">
            <a:avLst/>
          </a:prstGeom>
          <a:solidFill>
            <a:srgbClr val="1A0505"/>
          </a:solidFill>
          <a:ln w="6350">
            <a:solidFill>
              <a:srgbClr val="3A0A0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89320" y="2862072"/>
            <a:ext cx="251460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99048" y="2990088"/>
            <a:ext cx="594360" cy="2468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99048" y="3017520"/>
            <a:ext cx="594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766560" y="299008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Partnership Targeting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099048" y="3337560"/>
            <a:ext cx="22860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AAB8"/>
                </a:solidFill>
              </a:rPr>
              <a:t>Identifies FQHCs and nonprofits by ZIP. Drafts ready-to-send CRA partnership proposals with funding amounts and credit values.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03027"/>
          </a:solidFill>
          <a:ln w="12700">
            <a:solidFill>
              <a:srgbClr val="D03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FA6"/>
                </a:solidFill>
              </a:rPr>
              <a:t>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2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CRA Agents — System Prompt Architecture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D03027"/>
                </a:solidFill>
              </a:rPr>
              <a:t>ALT — Health Crisis Detection (MCC Watch List)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4114800" cy="1481328"/>
          </a:xfrm>
          <a:prstGeom prst="rect">
            <a:avLst/>
          </a:prstGeom>
          <a:solidFill>
            <a:srgbClr val="0D1117"/>
          </a:solidFill>
          <a:ln w="6350">
            <a:solidFill>
              <a:srgbClr val="1E27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Hard-coded thresholds baked into system prompt: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MCC 5912 Drug Stores/Pharmacies: spike &gt;30% = HIGH ALERT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MCC 7997 Fitness Clubs:          cancellation = early stress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MCC 5411 Grocery Stores:         drop &gt;20% = food insecurity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MCC 8099 Urgent Care:            spike = reactive surge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Critical tier: 3+ signals + credit utilization &gt;85%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High tier:     2 signals  + utilization 70-85%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663440" y="822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E8821A"/>
                </a:solidFill>
              </a:rPr>
              <a:t>ROI — Benchmarks baked into system prompt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078992"/>
            <a:ext cx="4114800" cy="1481328"/>
          </a:xfrm>
          <a:prstGeom prst="rect">
            <a:avLst/>
          </a:prstGeom>
          <a:solidFill>
            <a:srgbClr val="0D1117"/>
          </a:solidFill>
          <a:ln w="6350">
            <a:solidFill>
              <a:srgbClr val="1E27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18872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Capital One benchmark constants in prompt: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CRA credit multiplier:  $3-8 per $1 deployed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Capital One Cafe:       $4.2M brand value / year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 prevention:     $840 savings per user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FQHC partnership press: $2.1M earned media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$50k grant = $250k CRA credit  (5:1 ratio)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Outstanding OCC rating = $500M+ M&amp;A opportunity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2688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004977"/>
                </a:solidFill>
              </a:rPr>
              <a:t>Zone Context — injected into every CRA agent call automatically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944368"/>
            <a:ext cx="8412480" cy="1956816"/>
          </a:xfrm>
          <a:prstGeom prst="rect">
            <a:avLst/>
          </a:prstGeom>
          <a:solidFill>
            <a:srgbClr val="0D1117"/>
          </a:solidFill>
          <a:ln w="6350">
            <a:solidFill>
              <a:srgbClr val="1E27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054096"/>
            <a:ext cx="8138160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zoneCtx = `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 LIVE ZONE DATA ---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ZIP: ${zone.zip} | ${zone.city}, ${zone.state}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Income: ${zone.incomeGroup} | Median: $${zone.medianIncome}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Desert Score: ${zone.healthDesertScore}/100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Preventive: ${zone.preventiveSpend}% | Reactive: ${zone.reactiveSpend}%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CRA Deployed: $${zone.craDeployed} of $${zone.craTarget}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 PORTFOLIO (${portfolio.length} users) ---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Critical: ${critCount} | Avg Spend: $${avgHealth}/mo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Insured: ${insuredRate}% | Avg Credit: ${avgCredit}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---`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03027"/>
          </a:solidFill>
          <a:ln w="12700">
            <a:solidFill>
              <a:srgbClr val="D03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Multi-Agent Orchestrator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Runs all permitted CRA agents sequentially — passes output as context to the next — synthesises a board executive report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FA6"/>
                </a:solidFill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1188720" cy="914400"/>
          </a:xfrm>
          <a:prstGeom prst="rect">
            <a:avLst/>
          </a:prstGeom>
          <a:solidFill>
            <a:srgbClr val="1A0505"/>
          </a:solidFill>
          <a:ln w="6350">
            <a:solidFill>
              <a:srgbClr val="2E7D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" y="1115568"/>
            <a:ext cx="594360" cy="24688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7220" y="1143000"/>
            <a:ext cx="594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144475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Equity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Map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508760" y="1481328"/>
            <a:ext cx="109728" cy="0"/>
          </a:xfrm>
          <a:prstGeom prst="line">
            <a:avLst/>
          </a:prstGeom>
          <a:noFill/>
          <a:ln w="12700">
            <a:solidFill>
              <a:srgbClr val="7A8FA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18488" y="1024128"/>
            <a:ext cx="1188720" cy="914400"/>
          </a:xfrm>
          <a:prstGeom prst="rect">
            <a:avLst/>
          </a:prstGeom>
          <a:solidFill>
            <a:srgbClr val="1A0505"/>
          </a:solidFill>
          <a:ln w="6350">
            <a:solidFill>
              <a:srgbClr val="D030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15668" y="1115568"/>
            <a:ext cx="594360" cy="246888"/>
          </a:xfrm>
          <a:prstGeom prst="rect">
            <a:avLst/>
          </a:prstGeom>
          <a:solidFill>
            <a:srgbClr val="D03027"/>
          </a:solidFill>
          <a:ln w="12700">
            <a:solidFill>
              <a:srgbClr val="D030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15668" y="1143000"/>
            <a:ext cx="594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18488" y="144475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Crisis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Detect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807208" y="1481328"/>
            <a:ext cx="109728" cy="0"/>
          </a:xfrm>
          <a:prstGeom prst="line">
            <a:avLst/>
          </a:prstGeom>
          <a:noFill/>
          <a:ln w="12700">
            <a:solidFill>
              <a:srgbClr val="7A8F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16936" y="1024128"/>
            <a:ext cx="1188720" cy="914400"/>
          </a:xfrm>
          <a:prstGeom prst="rect">
            <a:avLst/>
          </a:prstGeom>
          <a:solidFill>
            <a:srgbClr val="1A0505"/>
          </a:solidFill>
          <a:ln w="6350">
            <a:solidFill>
              <a:srgbClr val="0049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14116" y="1115568"/>
            <a:ext cx="594360" cy="246888"/>
          </a:xfrm>
          <a:prstGeom prst="rect">
            <a:avLst/>
          </a:prstGeom>
          <a:solidFill>
            <a:srgbClr val="004977"/>
          </a:solidFill>
          <a:ln w="12700">
            <a:solidFill>
              <a:srgbClr val="0049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14116" y="1143000"/>
            <a:ext cx="594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916936" y="144475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CRA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Advisor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05656" y="1481328"/>
            <a:ext cx="109728" cy="0"/>
          </a:xfrm>
          <a:prstGeom prst="line">
            <a:avLst/>
          </a:prstGeom>
          <a:noFill/>
          <a:ln w="12700">
            <a:solidFill>
              <a:srgbClr val="7A8FA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15384" y="1024128"/>
            <a:ext cx="1188720" cy="914400"/>
          </a:xfrm>
          <a:prstGeom prst="rect">
            <a:avLst/>
          </a:prstGeom>
          <a:solidFill>
            <a:srgbClr val="1A0505"/>
          </a:solidFill>
          <a:ln w="6350">
            <a:solidFill>
              <a:srgbClr val="6B3FA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12564" y="1115568"/>
            <a:ext cx="594360" cy="24688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12564" y="1143000"/>
            <a:ext cx="594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215384" y="144475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Product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Trigger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04104" y="1481328"/>
            <a:ext cx="109728" cy="0"/>
          </a:xfrm>
          <a:prstGeom prst="line">
            <a:avLst/>
          </a:prstGeom>
          <a:noFill/>
          <a:ln w="12700">
            <a:solidFill>
              <a:srgbClr val="7A8FA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13832" y="1024128"/>
            <a:ext cx="1188720" cy="914400"/>
          </a:xfrm>
          <a:prstGeom prst="rect">
            <a:avLst/>
          </a:prstGeom>
          <a:solidFill>
            <a:srgbClr val="1A0505"/>
          </a:solidFill>
          <a:ln w="6350">
            <a:solidFill>
              <a:srgbClr val="E8821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11012" y="1115568"/>
            <a:ext cx="594360" cy="246888"/>
          </a:xfrm>
          <a:prstGeom prst="rect">
            <a:avLst/>
          </a:prstGeom>
          <a:solidFill>
            <a:srgbClr val="E8821A"/>
          </a:solidFill>
          <a:ln w="12700">
            <a:solidFill>
              <a:srgbClr val="E882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11012" y="1143000"/>
            <a:ext cx="594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ROI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13832" y="144475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ROI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Calc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702552" y="1481328"/>
            <a:ext cx="109728" cy="0"/>
          </a:xfrm>
          <a:prstGeom prst="line">
            <a:avLst/>
          </a:prstGeom>
          <a:noFill/>
          <a:ln w="12700">
            <a:solidFill>
              <a:srgbClr val="7A8FA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12280" y="1024128"/>
            <a:ext cx="1188720" cy="914400"/>
          </a:xfrm>
          <a:prstGeom prst="rect">
            <a:avLst/>
          </a:prstGeom>
          <a:solidFill>
            <a:srgbClr val="1A0505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09460" y="1115568"/>
            <a:ext cx="594360" cy="2468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09460" y="1143000"/>
            <a:ext cx="594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812280" y="144475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Partner-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ship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20040" y="202996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</a:rPr>
              <a:t>Each step: 300 tokens (terse tier)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20040" y="223113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</a:rPr>
              <a:t>Context carry-forward: first 300 chars of each reply compressed into next agent's prompt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926080" y="2578608"/>
            <a:ext cx="3291840" cy="530352"/>
          </a:xfrm>
          <a:prstGeom prst="rect">
            <a:avLst/>
          </a:prstGeom>
          <a:solidFill>
            <a:srgbClr val="D03027">
              <a:alpha val="20000"/>
            </a:srgbClr>
          </a:solidFill>
          <a:ln w="10160">
            <a:solidFill>
              <a:srgbClr val="D0302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26080" y="2633472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SYNTHESIS — 600 tokens (normal tier)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743200" y="314553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4-bullet board executive summary — downloadable as .txt report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65760" y="34564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CADCFC"/>
                </a:solidFill>
              </a:rPr>
              <a:t>Core Orchestration Loop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5760" y="3712464"/>
            <a:ext cx="8412480" cy="1225296"/>
          </a:xfrm>
          <a:prstGeom prst="rect">
            <a:avLst/>
          </a:prstGeom>
          <a:solidFill>
            <a:srgbClr val="0D1117"/>
          </a:solidFill>
          <a:ln w="6350">
            <a:solidFill>
              <a:srgbClr val="1E273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3822192"/>
            <a:ext cx="813816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 = 0; i &lt; STEPS.length; i++)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(!allowed.includes(step.agentId)) continue; // RBAC skip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prompt = `ZONE: ${zoneSnippet}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PREVIOUS FINDINGS: ${accumulatedContext}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YOUR TASK (2-3 sentences): ${step.goal}`;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reply = await callClaude(system, prompt, [], 'terse');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accumulatedContext += reply.slice(0, 300); // compress + carry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03027"/>
          </a:solidFill>
          <a:ln w="12700">
            <a:solidFill>
              <a:srgbClr val="D03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FA6"/>
                </a:solidFill>
              </a:rPr>
              <a:t>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2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Orchestrator — Token Budget and Cost Model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011680" cy="960120"/>
          </a:xfrm>
          <a:prstGeom prst="rect">
            <a:avLst/>
          </a:prstGeom>
          <a:solidFill>
            <a:srgbClr val="F4F7FB"/>
          </a:solidFill>
          <a:ln w="6350">
            <a:solidFill>
              <a:srgbClr val="E0E6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2011680" cy="640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1556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6093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FA6"/>
                </a:solidFill>
              </a:rPr>
              <a:t>tokens / agent step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0" y="1005840"/>
            <a:ext cx="2011680" cy="960120"/>
          </a:xfrm>
          <a:prstGeom prst="rect">
            <a:avLst/>
          </a:prstGeom>
          <a:solidFill>
            <a:srgbClr val="F4F7FB"/>
          </a:solidFill>
          <a:ln w="6350">
            <a:solidFill>
              <a:srgbClr val="E0E6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1005840"/>
            <a:ext cx="2011680" cy="64008"/>
          </a:xfrm>
          <a:prstGeom prst="rect">
            <a:avLst/>
          </a:prstGeom>
          <a:solidFill>
            <a:srgbClr val="004977"/>
          </a:solidFill>
          <a:ln w="12700">
            <a:solidFill>
              <a:srgbClr val="0049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11556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49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560320" y="16093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FA6"/>
                </a:solidFill>
              </a:rPr>
              <a:t>synthesis tokens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2011680" cy="960120"/>
          </a:xfrm>
          <a:prstGeom prst="rect">
            <a:avLst/>
          </a:prstGeom>
          <a:solidFill>
            <a:srgbClr val="F4F7FB"/>
          </a:solidFill>
          <a:ln w="6350">
            <a:solidFill>
              <a:srgbClr val="E0E6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005840"/>
            <a:ext cx="2011680" cy="64008"/>
          </a:xfrm>
          <a:prstGeom prst="rect">
            <a:avLst/>
          </a:prstGeom>
          <a:solidFill>
            <a:srgbClr val="E8821A"/>
          </a:solidFill>
          <a:ln w="12700">
            <a:solidFill>
              <a:srgbClr val="E882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11556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82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~6,000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754880" y="16093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FA6"/>
                </a:solidFill>
              </a:rPr>
              <a:t>total tokens / run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949440" y="1005840"/>
            <a:ext cx="2011680" cy="960120"/>
          </a:xfrm>
          <a:prstGeom prst="rect">
            <a:avLst/>
          </a:prstGeom>
          <a:solidFill>
            <a:srgbClr val="F4F7FB"/>
          </a:solidFill>
          <a:ln w="6350">
            <a:solidFill>
              <a:srgbClr val="E0E6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49440" y="1005840"/>
            <a:ext cx="2011680" cy="64008"/>
          </a:xfrm>
          <a:prstGeom prst="rect">
            <a:avLst/>
          </a:prstGeom>
          <a:solidFill>
            <a:srgbClr val="D03027"/>
          </a:solidFill>
          <a:ln w="12700">
            <a:solidFill>
              <a:srgbClr val="D030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111556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03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$0.024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949440" y="16093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FA6"/>
                </a:solidFill>
              </a:rPr>
              <a:t>cost per full run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262"/>
                </a:solidFill>
              </a:rPr>
              <a:t>Token Budget Breakdown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468880"/>
          <a:ext cx="8412480" cy="2240280"/>
        </p:xfrm>
        <a:graphic>
          <a:graphicData uri="http://schemas.openxmlformats.org/drawingml/2006/table">
            <a:tbl>
              <a:tblPr/>
              <a:tblGrid>
                <a:gridCol w="3931920"/>
                <a:gridCol w="1371600"/>
                <a:gridCol w="1371600"/>
                <a:gridCol w="1737360"/>
              </a:tblGrid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2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Tier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2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Tokens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2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Cost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262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 agent steps (300 each)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Terse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~1,800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~$0.005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Zone context injected per step (6x)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~2,400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included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Accumulated context carry-forward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~1,800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included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Final synthesis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Normal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~600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~$0.0018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Total per full orchestration run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Mixed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~6,000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~$0.018–0.024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365760" y="47731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8FA6"/>
                </a:solidFill>
              </a:rPr>
              <a:t>Agents not in the employee access list are skipped automatically — reducing cost proportionally to their access level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03027"/>
          </a:solidFill>
          <a:ln w="12700">
            <a:solidFill>
              <a:srgbClr val="D03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FA6"/>
                </a:solidFill>
              </a:rPr>
              <a:t>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2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Role-Based Access Control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004977"/>
                </a:solidFill>
              </a:rPr>
              <a:t>Authentication Flow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237744" cy="237744"/>
          </a:xfrm>
          <a:prstGeom prst="ellipse">
            <a:avLst/>
          </a:prstGeom>
          <a:solidFill>
            <a:srgbClr val="004977"/>
          </a:solidFill>
          <a:ln w="12700">
            <a:solidFill>
              <a:srgbClr val="0049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15568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94944" y="11064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Employee enters first name + Employee ID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600200"/>
            <a:ext cx="237744" cy="237744"/>
          </a:xfrm>
          <a:prstGeom prst="ellipse">
            <a:avLst/>
          </a:prstGeom>
          <a:solidFill>
            <a:srgbClr val="004977"/>
          </a:solidFill>
          <a:ln w="12700">
            <a:solidFill>
              <a:srgbClr val="0049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18488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94944" y="16093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System: name.toLowerCase().startsWith(entered) AND id must match exactly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103120"/>
            <a:ext cx="237744" cy="237744"/>
          </a:xfrm>
          <a:prstGeom prst="ellipse">
            <a:avLst/>
          </a:prstGeom>
          <a:solidFill>
            <a:srgbClr val="004977"/>
          </a:solidFill>
          <a:ln w="12700">
            <a:solidFill>
              <a:srgbClr val="0049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121408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4944" y="21122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On match: employee profile and access list loaded into state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606040"/>
            <a:ext cx="237744" cy="237744"/>
          </a:xfrm>
          <a:prstGeom prst="ellipse">
            <a:avLst/>
          </a:prstGeom>
          <a:solidFill>
            <a:srgbClr val="004977"/>
          </a:solidFill>
          <a:ln w="12700">
            <a:solidFill>
              <a:srgbClr val="0049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624328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94944" y="26151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Sidebar shows permitted agents as active; locked agents are greyed out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108960"/>
            <a:ext cx="237744" cy="237744"/>
          </a:xfrm>
          <a:prstGeom prst="ellipse">
            <a:avLst/>
          </a:prstGeom>
          <a:solidFill>
            <a:srgbClr val="004977"/>
          </a:solidFill>
          <a:ln w="12700">
            <a:solidFill>
              <a:srgbClr val="0049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127248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94944" y="31181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Orchestrator auto-skips any step the employee cannot access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657600"/>
            <a:ext cx="4114800" cy="1298448"/>
          </a:xfrm>
          <a:prstGeom prst="rect">
            <a:avLst/>
          </a:prstGeom>
          <a:solidFill>
            <a:srgbClr val="0D1117"/>
          </a:solidFill>
          <a:ln w="6350">
            <a:solidFill>
              <a:srgbClr val="1E27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767328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emp = EMPLOYEES.find(e =&gt;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e.id === enteredId.toUpperCase() &amp;&amp;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e.name.toLowerCase()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.startsWith(firstName.toLowerCase())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0" y="822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D03027"/>
                </a:solidFill>
              </a:rPr>
              <a:t>Employee Directory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078992"/>
          <a:ext cx="4023360" cy="2651760"/>
        </p:xfrm>
        <a:graphic>
          <a:graphicData uri="http://schemas.openxmlformats.org/drawingml/2006/table">
            <a:tbl>
              <a:tblPr/>
              <a:tblGrid>
                <a:gridCol w="594360"/>
                <a:gridCol w="1417320"/>
                <a:gridCol w="1508760"/>
                <a:gridCol w="502920"/>
              </a:tblGrid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2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Name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2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2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Modules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262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E001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Jack Reynolds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CRA Officer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CRA, MAP, PTR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E002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Sarah Chen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Risk Analyst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ALT, PRD, ROI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E003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Marcus Williams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Community Dev Mgr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CRA, MAP, PTR, ROI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E004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Priya Nair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Data Scientist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ALT, MAP, ROI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E005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Tom Hargrove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Branch Director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CRA, PRD, PTR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4754880" y="38587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D03027"/>
                </a:solidFill>
              </a:rPr>
              <a:t>Sidebar access enforcement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754880" y="4114800"/>
            <a:ext cx="4023360" cy="914400"/>
          </a:xfrm>
          <a:prstGeom prst="rect">
            <a:avLst/>
          </a:prstGeom>
          <a:solidFill>
            <a:srgbClr val="0D1117"/>
          </a:solidFill>
          <a:ln w="6350">
            <a:solidFill>
              <a:srgbClr val="1E273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92040" y="4224528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visible=CRA_AGENTS.filter(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a=&gt;allowedIds.includes(a.id));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locked=CRA_AGENTS.filter(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a=&gt;!allowedIds.includes(a.id));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03027"/>
          </a:solidFill>
          <a:ln w="12700">
            <a:solidFill>
              <a:srgbClr val="D03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FA6"/>
                </a:solidFill>
              </a:rPr>
              <a:t>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2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Spend Agent + Excel Export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004977"/>
                </a:solidFill>
              </a:rPr>
              <a:t>What the Agent Does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06070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B3C"/>
                </a:solidFill>
              </a:rPr>
              <a:t>Loads 40-60 synthetic users for the active ZIP zone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5760" y="148132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B3C"/>
                </a:solidFill>
              </a:rPr>
              <a:t>Filter buttons: All / Critical / High Risk / Low Income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190195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B3C"/>
                </a:solidFill>
              </a:rPr>
              <a:t>Sort: Monthly Health Spend / Risk Tier / Income / Credit Score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232257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B3C"/>
                </a:solidFill>
              </a:rPr>
              <a:t>AI Insight button: 300 token (terse) 3-bullet spending analysis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274320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B3C"/>
                </a:solidFill>
              </a:rPr>
              <a:t>Full table: User ID, Income Group, Health Spend, Preventive, Pharmacy, Insurance status, Credit Score, Risk Tier, Recommended Intervention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316382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B3C"/>
                </a:solidFill>
              </a:rPr>
              <a:t>One-click CSV download — opens directly in Microsoft Excel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4632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2E7D32"/>
                </a:solidFill>
              </a:rPr>
              <a:t>Excel Export — UTF-8 BOM for Windows compatibility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1060704"/>
            <a:ext cx="3931920" cy="3803904"/>
          </a:xfrm>
          <a:prstGeom prst="rect">
            <a:avLst/>
          </a:prstGeom>
          <a:solidFill>
            <a:srgbClr val="0D1117"/>
          </a:solidFill>
          <a:ln w="6350">
            <a:solidFill>
              <a:srgbClr val="1E27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1170432"/>
            <a:ext cx="3657600" cy="3602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exportCustomersExcel(portfolio, zone)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headers = ['User ID','ZIP','City',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'Income Group','Monthly Income ($)',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'Health Spend ($)','Preventive ($)',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'Pharmacy ($)','Insured','Credit Score',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'Risk Tier','Intervention'];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csv = [headers, ...rows]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.map(r =&gt; r.map(v =&gt;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'"' + v + '"').join(','))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.join('\n');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BOM = required for Excel on Windows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BOM = '\uFEFF';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blob = new Blob([BOM + csv],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type: 'text/csv;charset=utf-8;' });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triggers browser download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a.click();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03027"/>
          </a:solidFill>
          <a:ln w="12700">
            <a:solidFill>
              <a:srgbClr val="D03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FA6"/>
                </a:solidFill>
              </a:rPr>
              <a:t>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2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Capital One Nessie API Integration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6517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2651760" cy="64008"/>
          </a:xfrm>
          <a:prstGeom prst="rect">
            <a:avLst/>
          </a:prstGeom>
          <a:solidFill>
            <a:srgbClr val="004977"/>
          </a:solidFill>
          <a:ln w="12700">
            <a:solidFill>
              <a:srgbClr val="0049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02412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</a:rPr>
              <a:t>Customer Login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389888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49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/customers/{id}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5488" y="1792224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verify customer exists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75488" y="219456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49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/customers/{id}/accounts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5488" y="2596896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accounts + balances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75488" y="2999232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49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/accounts/{id}/purchases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5488" y="3401568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purchase history (per account)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4206240"/>
            <a:ext cx="2651760" cy="347472"/>
          </a:xfrm>
          <a:prstGeom prst="rect">
            <a:avLst/>
          </a:prstGeom>
          <a:solidFill>
            <a:srgbClr val="004977">
              <a:alpha val="12000"/>
            </a:srgbClr>
          </a:solidFill>
          <a:ln w="6350">
            <a:solidFill>
              <a:srgbClr val="0049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2336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4977"/>
                </a:solidFill>
              </a:rPr>
              <a:t>Chained sequentially on login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154680" y="914400"/>
            <a:ext cx="26517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54680" y="914400"/>
            <a:ext cx="2651760" cy="640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64408" y="102412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</a:rPr>
              <a:t>New Account Creation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64408" y="1389888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/customers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64408" y="1792224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create customer profile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264408" y="219456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/customers/{id}/accounts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64408" y="2596896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checking / savings / CC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264408" y="2999232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Returns objectCreated._id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64408" y="3401568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shown on success screen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154680" y="4206240"/>
            <a:ext cx="2651760" cy="347472"/>
          </a:xfrm>
          <a:prstGeom prst="rect">
            <a:avLst/>
          </a:prstGeom>
          <a:solidFill>
            <a:srgbClr val="2E7D32">
              <a:alpha val="12000"/>
            </a:srgbClr>
          </a:solidFill>
          <a:ln w="635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46120" y="42336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E7D32"/>
                </a:solidFill>
              </a:rPr>
              <a:t>Requires customer-tier write key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943600" y="914400"/>
            <a:ext cx="26517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43600" y="914400"/>
            <a:ext cx="2651760" cy="64008"/>
          </a:xfrm>
          <a:prstGeom prst="rect">
            <a:avLst/>
          </a:prstGeom>
          <a:solidFill>
            <a:srgbClr val="D03027"/>
          </a:solidFill>
          <a:ln w="12700">
            <a:solidFill>
              <a:srgbClr val="D0302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53328" y="102412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</a:rPr>
              <a:t>Enterprise Admin Mode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053328" y="1389888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03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/enterprise/accounts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053328" y="1792224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all sandbox accounts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053328" y="219456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03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/enterprise/accounts/{id}/purchases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053328" y="2596896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purchases (first 20 sampled)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053328" y="2999232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in Card Analytics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053328" y="3401568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account type distribution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943600" y="4206240"/>
            <a:ext cx="2651760" cy="347472"/>
          </a:xfrm>
          <a:prstGeom prst="rect">
            <a:avLst/>
          </a:prstGeom>
          <a:solidFill>
            <a:srgbClr val="D03027">
              <a:alpha val="12000"/>
            </a:srgbClr>
          </a:solidFill>
          <a:ln w="6350">
            <a:solidFill>
              <a:srgbClr val="D0302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35040" y="42336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03027"/>
                </a:solidFill>
              </a:rPr>
              <a:t>Requires enterprise API key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65760" y="4663440"/>
            <a:ext cx="8412480" cy="329184"/>
          </a:xfrm>
          <a:prstGeom prst="rect">
            <a:avLst/>
          </a:prstGeom>
          <a:solidFill>
            <a:srgbClr val="F4F7FB"/>
          </a:solidFill>
          <a:ln w="6350">
            <a:solidFill>
              <a:srgbClr val="E0E6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47000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FA6"/>
                </a:solidFill>
              </a:rPr>
              <a:t>Merchant mapping (60 entries): starbucks-&gt;Dining  |  delta-&gt;Travel  |  cvs-&gt;Healthcare  |  whole foods-&gt;Groceries  |  netflix-&gt;Entertainment  |  planet fitness-&gt;Fitness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03027"/>
          </a:solidFill>
          <a:ln w="12700">
            <a:solidFill>
              <a:srgbClr val="D03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FA6"/>
                </a:solidFill>
              </a:rPr>
              <a:t>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2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Used and How to Run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004977"/>
                </a:solidFill>
              </a:rPr>
              <a:t>Development Tools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40233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78992"/>
            <a:ext cx="54864" cy="438912"/>
          </a:xfrm>
          <a:prstGeom prst="rect">
            <a:avLst/>
          </a:prstGeom>
          <a:solidFill>
            <a:srgbClr val="004977"/>
          </a:solidFill>
          <a:ln w="12700">
            <a:solidFill>
              <a:srgbClr val="0049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2471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49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create-react-app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11247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FA6"/>
                </a:solidFill>
              </a:rPr>
              <a:t>Bootstrap React app — no config needed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572768"/>
            <a:ext cx="40233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572768"/>
            <a:ext cx="54864" cy="438912"/>
          </a:xfrm>
          <a:prstGeom prst="rect">
            <a:avLst/>
          </a:prstGeom>
          <a:solidFill>
            <a:srgbClr val="004977"/>
          </a:solidFill>
          <a:ln w="12700">
            <a:solidFill>
              <a:srgbClr val="0049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61848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49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+ recharts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86000" y="16184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FA6"/>
                </a:solidFill>
              </a:rPr>
              <a:t>Only one extra package: charting library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066544"/>
            <a:ext cx="40233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066544"/>
            <a:ext cx="54864" cy="438912"/>
          </a:xfrm>
          <a:prstGeom prst="rect">
            <a:avLst/>
          </a:prstGeom>
          <a:solidFill>
            <a:srgbClr val="004977"/>
          </a:solidFill>
          <a:ln w="12700">
            <a:solidFill>
              <a:srgbClr val="0049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11226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49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pptxgenjs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86000" y="2112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FA6"/>
                </a:solidFill>
              </a:rPr>
              <a:t>Generate this presentation from JavaScript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2560320"/>
            <a:ext cx="40233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560320"/>
            <a:ext cx="54864" cy="438912"/>
          </a:xfrm>
          <a:prstGeom prst="rect">
            <a:avLst/>
          </a:prstGeom>
          <a:solidFill>
            <a:srgbClr val="004977"/>
          </a:solidFill>
          <a:ln w="12700">
            <a:solidFill>
              <a:srgbClr val="0049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6060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49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docx (npm pkg)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86000" y="26060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FA6"/>
                </a:solidFill>
              </a:rPr>
              <a:t>Generate the 15-section technical Word document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054096"/>
            <a:ext cx="40233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054096"/>
            <a:ext cx="54864" cy="438912"/>
          </a:xfrm>
          <a:prstGeom prst="rect">
            <a:avLst/>
          </a:prstGeom>
          <a:solidFill>
            <a:srgbClr val="004977"/>
          </a:solidFill>
          <a:ln w="12700">
            <a:solidFill>
              <a:srgbClr val="0049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09981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49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Nessie API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286000" y="30998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FA6"/>
                </a:solidFill>
              </a:rPr>
              <a:t>Capital One hackathon banking sandbox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3547872"/>
            <a:ext cx="40233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547872"/>
            <a:ext cx="54864" cy="438912"/>
          </a:xfrm>
          <a:prstGeom prst="rect">
            <a:avLst/>
          </a:prstGeom>
          <a:solidFill>
            <a:srgbClr val="004977"/>
          </a:solidFill>
          <a:ln w="12700">
            <a:solidFill>
              <a:srgbClr val="0049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59359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49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Anthropic Console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286000" y="359359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FA6"/>
                </a:solidFill>
              </a:rPr>
              <a:t>Claude API key management and usage monitoring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4041648"/>
            <a:ext cx="40233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4041648"/>
            <a:ext cx="54864" cy="438912"/>
          </a:xfrm>
          <a:prstGeom prst="rect">
            <a:avLst/>
          </a:prstGeom>
          <a:solidFill>
            <a:srgbClr val="004977"/>
          </a:solidFill>
          <a:ln w="12700">
            <a:solidFill>
              <a:srgbClr val="0049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08736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49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 Speech API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286000" y="40873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FA6"/>
                </a:solidFill>
              </a:rPr>
              <a:t>Voice input for AI Teller (Chrome native, no install)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54880" y="822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D03027"/>
                </a:solidFill>
              </a:rPr>
              <a:t>How to Run (Windows — clean path required)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1078992"/>
            <a:ext cx="4023360" cy="3730752"/>
          </a:xfrm>
          <a:prstGeom prst="rect">
            <a:avLst/>
          </a:prstGeom>
          <a:solidFill>
            <a:srgbClr val="0D1117"/>
          </a:solidFill>
          <a:ln w="6350">
            <a:solidFill>
              <a:srgbClr val="1E273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1188720"/>
            <a:ext cx="3749040" cy="3529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Always create projects in paths with no spaces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C:\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myapp &amp;&amp; cd myapp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create-react-app capitaliq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capitaliq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Install the only external library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recharts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Replace src/ with exactly two files: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capital_one_dashboard.jsx  (the full app)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index.js                   (React entry point)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Launch — browser opens automatically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start   # http://localhost:3000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03027"/>
          </a:solidFill>
          <a:ln w="12700">
            <a:solidFill>
              <a:srgbClr val="D03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FA6"/>
                </a:solidFill>
              </a:rPr>
              <a:t>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2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Enhancements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3931920" cy="905256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54864" cy="905256"/>
          </a:xfrm>
          <a:prstGeom prst="rect">
            <a:avLst/>
          </a:prstGeom>
          <a:solidFill>
            <a:srgbClr val="D03027"/>
          </a:solidFill>
          <a:ln w="12700">
            <a:solidFill>
              <a:srgbClr val="D030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22192" y="960120"/>
            <a:ext cx="420624" cy="201168"/>
          </a:xfrm>
          <a:prstGeom prst="rect">
            <a:avLst/>
          </a:prstGeom>
          <a:solidFill>
            <a:srgbClr val="D03027">
              <a:alpha val="20000"/>
            </a:srgbClr>
          </a:solidFill>
          <a:ln w="3810">
            <a:solidFill>
              <a:srgbClr val="D030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22192" y="97840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D03027"/>
                </a:solidFill>
              </a:rPr>
              <a:t>Phase 1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30352" y="969264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3C"/>
                </a:solidFill>
              </a:rPr>
              <a:t>Backend API Proxy + Key Management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" y="1234440"/>
            <a:ext cx="3218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FA6"/>
                </a:solidFill>
              </a:rPr>
              <a:t>Move Anthropic and Nessie keys to Node.js/Python backend. Env variables, key rotation, per-user rate limiting.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63440" y="914400"/>
            <a:ext cx="3931920" cy="905256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914400"/>
            <a:ext cx="54864" cy="905256"/>
          </a:xfrm>
          <a:prstGeom prst="rect">
            <a:avLst/>
          </a:prstGeom>
          <a:solidFill>
            <a:srgbClr val="D03027"/>
          </a:solidFill>
          <a:ln w="12700">
            <a:solidFill>
              <a:srgbClr val="D030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19872" y="960120"/>
            <a:ext cx="420624" cy="201168"/>
          </a:xfrm>
          <a:prstGeom prst="rect">
            <a:avLst/>
          </a:prstGeom>
          <a:solidFill>
            <a:srgbClr val="D03027">
              <a:alpha val="20000"/>
            </a:srgbClr>
          </a:solidFill>
          <a:ln w="3810">
            <a:solidFill>
              <a:srgbClr val="D030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19872" y="97840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D03027"/>
                </a:solidFill>
              </a:rPr>
              <a:t>Phase 1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828032" y="969264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3C"/>
                </a:solidFill>
              </a:rPr>
              <a:t>ML Life Stage Classifier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28032" y="1234440"/>
            <a:ext cx="3218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FA6"/>
                </a:solidFill>
              </a:rPr>
              <a:t>Replace keyword-scoring rule engine with a trained text classifier on real Capital One transaction patterns.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1947672"/>
            <a:ext cx="3931920" cy="905256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1947672"/>
            <a:ext cx="54864" cy="905256"/>
          </a:xfrm>
          <a:prstGeom prst="rect">
            <a:avLst/>
          </a:prstGeom>
          <a:solidFill>
            <a:srgbClr val="004977"/>
          </a:solidFill>
          <a:ln w="12700">
            <a:solidFill>
              <a:srgbClr val="00497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22192" y="1993392"/>
            <a:ext cx="420624" cy="201168"/>
          </a:xfrm>
          <a:prstGeom prst="rect">
            <a:avLst/>
          </a:prstGeom>
          <a:solidFill>
            <a:srgbClr val="004977">
              <a:alpha val="20000"/>
            </a:srgbClr>
          </a:solidFill>
          <a:ln w="3810">
            <a:solidFill>
              <a:srgbClr val="0049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22192" y="201168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004977"/>
                </a:solidFill>
              </a:rPr>
              <a:t>Phase 2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530352" y="200253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3C"/>
                </a:solidFill>
              </a:rPr>
              <a:t>Parallel Orchestrator Execution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0352" y="2267712"/>
            <a:ext cx="3218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FA6"/>
                </a:solidFill>
              </a:rPr>
              <a:t>Run independent CRA agents concurrently — MAP and ALT can fire simultaneously, reducing runtime from 30s to 10s.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63440" y="1947672"/>
            <a:ext cx="3931920" cy="905256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1947672"/>
            <a:ext cx="54864" cy="905256"/>
          </a:xfrm>
          <a:prstGeom prst="rect">
            <a:avLst/>
          </a:prstGeom>
          <a:solidFill>
            <a:srgbClr val="004977"/>
          </a:solidFill>
          <a:ln w="12700">
            <a:solidFill>
              <a:srgbClr val="00497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19872" y="1993392"/>
            <a:ext cx="420624" cy="201168"/>
          </a:xfrm>
          <a:prstGeom prst="rect">
            <a:avLst/>
          </a:prstGeom>
          <a:solidFill>
            <a:srgbClr val="004977">
              <a:alpha val="20000"/>
            </a:srgbClr>
          </a:solidFill>
          <a:ln w="3810">
            <a:solidFill>
              <a:srgbClr val="0049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19872" y="201168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004977"/>
                </a:solidFill>
              </a:rPr>
              <a:t>Phase 2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828032" y="200253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3C"/>
                </a:solidFill>
              </a:rPr>
              <a:t>Real Nessie CRA Portfolio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28032" y="2267712"/>
            <a:ext cx="3218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FA6"/>
                </a:solidFill>
              </a:rPr>
              <a:t>Join actual Nessie purchase data with US Census income data by ZIP to replace the synthetic portfolio generation.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" y="2980944"/>
            <a:ext cx="3931920" cy="905256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2980944"/>
            <a:ext cx="54864" cy="905256"/>
          </a:xfrm>
          <a:prstGeom prst="rect">
            <a:avLst/>
          </a:prstGeom>
          <a:solidFill>
            <a:srgbClr val="E8821A"/>
          </a:solidFill>
          <a:ln w="12700">
            <a:solidFill>
              <a:srgbClr val="E8821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22192" y="3026664"/>
            <a:ext cx="420624" cy="201168"/>
          </a:xfrm>
          <a:prstGeom prst="rect">
            <a:avLst/>
          </a:prstGeom>
          <a:solidFill>
            <a:srgbClr val="E8821A">
              <a:alpha val="20000"/>
            </a:srgbClr>
          </a:solidFill>
          <a:ln w="3810">
            <a:solidFill>
              <a:srgbClr val="E882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22192" y="3044952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E8821A"/>
                </a:solidFill>
              </a:rPr>
              <a:t>Phase 2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30352" y="3035808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3C"/>
                </a:solidFill>
              </a:rPr>
              <a:t>True .xlsx Export with Charts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0352" y="3300984"/>
            <a:ext cx="3218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FA6"/>
                </a:solidFill>
              </a:rPr>
              <a:t>Replace CSV with SheetJS-generated .xlsx including formatted tables, colour-coded risk tiers, and embedded charts.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663440" y="2980944"/>
            <a:ext cx="3931920" cy="905256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2980944"/>
            <a:ext cx="54864" cy="90525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19872" y="3026664"/>
            <a:ext cx="420624" cy="201168"/>
          </a:xfrm>
          <a:prstGeom prst="rect">
            <a:avLst/>
          </a:prstGeom>
          <a:solidFill>
            <a:srgbClr val="2E7D32">
              <a:alpha val="20000"/>
            </a:srgbClr>
          </a:solidFill>
          <a:ln w="3810">
            <a:solidFill>
              <a:srgbClr val="2E7D3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19872" y="3044952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2E7D32"/>
                </a:solidFill>
              </a:rPr>
              <a:t>Phase 3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828032" y="3035808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3C"/>
                </a:solidFill>
              </a:rPr>
              <a:t>Capital One SSO Integration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28032" y="3300984"/>
            <a:ext cx="3218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FA6"/>
                </a:solidFill>
              </a:rPr>
              <a:t>Replace hardcoded employee directory with OAuth. Per-user audit logging and access control managed in the backend.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65760" y="4014216"/>
            <a:ext cx="3931920" cy="905256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65760" y="4014216"/>
            <a:ext cx="54864" cy="90525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822192" y="4059936"/>
            <a:ext cx="420624" cy="201168"/>
          </a:xfrm>
          <a:prstGeom prst="rect">
            <a:avLst/>
          </a:prstGeom>
          <a:solidFill>
            <a:srgbClr val="2E7D32">
              <a:alpha val="20000"/>
            </a:srgbClr>
          </a:solidFill>
          <a:ln w="3810">
            <a:solidFill>
              <a:srgbClr val="2E7D3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22192" y="4078224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2E7D32"/>
                </a:solidFill>
              </a:rPr>
              <a:t>Phase 3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30352" y="4069080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3C"/>
                </a:solidFill>
              </a:rPr>
              <a:t>Whisper API Voice Input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30352" y="4334256"/>
            <a:ext cx="3218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FA6"/>
                </a:solidFill>
              </a:rPr>
              <a:t>Replace Web Speech API (Chrome-only) with OpenAI Whisper for cross-browser, higher-accuracy voice in the AI Teller.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663440" y="4014216"/>
            <a:ext cx="3931920" cy="905256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663440" y="4014216"/>
            <a:ext cx="54864" cy="905256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119872" y="4059936"/>
            <a:ext cx="420624" cy="201168"/>
          </a:xfrm>
          <a:prstGeom prst="rect">
            <a:avLst/>
          </a:prstGeom>
          <a:solidFill>
            <a:srgbClr val="6B3FA0">
              <a:alpha val="20000"/>
            </a:srgbClr>
          </a:solidFill>
          <a:ln w="3810">
            <a:solidFill>
              <a:srgbClr val="6B3FA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119872" y="4078224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6B3FA0"/>
                </a:solidFill>
              </a:rPr>
              <a:t>Phase 3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4828032" y="4069080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3C"/>
                </a:solidFill>
              </a:rPr>
              <a:t>Real-Time MCC Monitoring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828032" y="4334256"/>
            <a:ext cx="3218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FA6"/>
                </a:solidFill>
              </a:rPr>
              <a:t>Connect Crisis Detection to a live Nessie webhook stream — alert fires within seconds of a critical MCC spike.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32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03027"/>
          </a:solidFill>
          <a:ln w="12700">
            <a:solidFill>
              <a:srgbClr val="D03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D03027"/>
          </a:solidFill>
          <a:ln w="12700">
            <a:solidFill>
              <a:srgbClr val="D030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4389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Capital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90288" y="1188720"/>
            <a:ext cx="36576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D03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IQ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48640" y="221284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Financial Intelligence Platform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8046720" cy="0"/>
          </a:xfrm>
          <a:prstGeom prst="line">
            <a:avLst/>
          </a:prstGeom>
          <a:noFill/>
          <a:ln w="6350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83464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9 AI Agents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   |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 User Roles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   |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Nessie API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   |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~$0.024 per full analysis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069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Built for the Capital One Hackathon — Powered by Nessie API and Claude Sonnet 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CapitalIQ — Financial Intelligence Platform</dc:title>
  <dc:subject>PptxGenJS Presentation</dc:subject>
  <dc:creator>CapitalIQ Team</dc:creator>
  <cp:lastModifiedBy>CapitalIQ Team</cp:lastModifiedBy>
  <cp:revision>1</cp:revision>
  <dcterms:created xsi:type="dcterms:W3CDTF">2026-03-22T13:26:12Z</dcterms:created>
  <dcterms:modified xsi:type="dcterms:W3CDTF">2026-03-22T13:26:12Z</dcterms:modified>
</cp:coreProperties>
</file>